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95" r:id="rId6"/>
    <p:sldId id="258" r:id="rId7"/>
    <p:sldId id="277" r:id="rId8"/>
    <p:sldId id="261" r:id="rId9"/>
    <p:sldId id="262" r:id="rId10"/>
    <p:sldId id="289" r:id="rId11"/>
    <p:sldId id="296" r:id="rId12"/>
    <p:sldId id="264" r:id="rId13"/>
    <p:sldId id="278" r:id="rId14"/>
    <p:sldId id="266" r:id="rId15"/>
    <p:sldId id="275" r:id="rId16"/>
    <p:sldId id="297" r:id="rId17"/>
    <p:sldId id="298" r:id="rId18"/>
    <p:sldId id="299" r:id="rId19"/>
    <p:sldId id="300" r:id="rId20"/>
    <p:sldId id="276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22/10/2026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57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4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726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336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694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780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11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48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6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mikaelmacedo0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993747"/>
            <a:ext cx="4941771" cy="1122202"/>
          </a:xfrm>
        </p:spPr>
        <p:txBody>
          <a:bodyPr rtlCol="0"/>
          <a:lstStyle/>
          <a:p>
            <a:pPr rtl="0"/>
            <a:r>
              <a:rPr lang="pt-BR" sz="3200" dirty="0"/>
              <a:t>Projeto integrador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0" y="3475271"/>
            <a:ext cx="5600114" cy="3382729"/>
          </a:xfrm>
        </p:spPr>
        <p:txBody>
          <a:bodyPr rtlCol="0">
            <a:normAutofit/>
          </a:bodyPr>
          <a:lstStyle/>
          <a:p>
            <a:pPr rtl="0"/>
            <a:r>
              <a:rPr lang="pt-BR" sz="2000" b="1" dirty="0"/>
              <a:t>Assistente de tecnologia da Informação</a:t>
            </a:r>
          </a:p>
          <a:p>
            <a:pPr rtl="0"/>
            <a:r>
              <a:rPr lang="pt-BR" dirty="0"/>
              <a:t>Carga horária: 240H</a:t>
            </a:r>
          </a:p>
          <a:p>
            <a:pPr rtl="0"/>
            <a:r>
              <a:rPr lang="pt-BR" dirty="0"/>
              <a:t>Professor: Olavo</a:t>
            </a:r>
          </a:p>
          <a:p>
            <a:pPr rtl="0"/>
            <a:r>
              <a:rPr lang="pt-BR" dirty="0"/>
              <a:t>Integrantes:</a:t>
            </a:r>
          </a:p>
          <a:p>
            <a:pPr rtl="0"/>
            <a:r>
              <a:rPr lang="pt-BR" dirty="0"/>
              <a:t>Mikael Macedo</a:t>
            </a:r>
          </a:p>
          <a:p>
            <a:pPr rtl="0"/>
            <a:r>
              <a:rPr lang="pt-BR" dirty="0"/>
              <a:t>Rian</a:t>
            </a:r>
          </a:p>
          <a:p>
            <a:pPr rtl="0"/>
            <a:r>
              <a:rPr lang="pt-BR" dirty="0"/>
              <a:t>João Vitor</a:t>
            </a:r>
          </a:p>
          <a:p>
            <a:pPr rtl="0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BE89A9-9D11-D784-F91C-FF9A36EDFBCE}"/>
              </a:ext>
            </a:extLst>
          </p:cNvPr>
          <p:cNvSpPr txBox="1"/>
          <p:nvPr/>
        </p:nvSpPr>
        <p:spPr>
          <a:xfrm flipH="1">
            <a:off x="6010275" y="6488668"/>
            <a:ext cx="17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1</a:t>
            </a:r>
          </a:p>
          <a:p>
            <a:endParaRPr lang="pt-BR" sz="900" dirty="0"/>
          </a:p>
        </p:txBody>
      </p:sp>
      <p:pic>
        <p:nvPicPr>
          <p:cNvPr id="11" name="Imagem 10" descr="Senac Jundiaí | CDL Jundiaí">
            <a:extLst>
              <a:ext uri="{FF2B5EF4-FFF2-40B4-BE49-F238E27FC236}">
                <a16:creationId xmlns:a16="http://schemas.microsoft.com/office/drawing/2014/main" id="{10CEABA6-957D-46DC-A90D-DFED0D14A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D4F32-9D86-7848-A5B1-B2474536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44" y="136525"/>
            <a:ext cx="3572556" cy="1042988"/>
          </a:xfrm>
        </p:spPr>
        <p:txBody>
          <a:bodyPr>
            <a:normAutofit/>
          </a:bodyPr>
          <a:lstStyle/>
          <a:p>
            <a:r>
              <a:rPr lang="pt-BR" sz="3200" dirty="0"/>
              <a:t>Competências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9069BB-F01E-C37D-713E-93232F40E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81" y="1462088"/>
            <a:ext cx="5784375" cy="41957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Conhecimentos gerais sobre computadores e sistemas operacionais (instalação e configuração)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Ferramentas e fundamentos para atuar como um bom profissional de tecnologia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Aplicação de ferramentas Microsoft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PowerPoint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Fundamentos sobre redes e conexões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Testes práticos com </a:t>
            </a:r>
            <a:r>
              <a:rPr lang="pt-BR" sz="1600" dirty="0" err="1"/>
              <a:t>Packet</a:t>
            </a:r>
            <a:r>
              <a:rPr lang="pt-BR" sz="1600" dirty="0"/>
              <a:t> </a:t>
            </a:r>
            <a:r>
              <a:rPr lang="pt-BR" sz="1600" dirty="0" err="1"/>
              <a:t>Tracer</a:t>
            </a:r>
            <a:endParaRPr lang="pt-BR" sz="1600" dirty="0"/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84C65A-6817-E393-C621-209F3A63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t>2</a:t>
            </a:fld>
            <a:endParaRPr lang="pt-BR" noProof="0"/>
          </a:p>
        </p:txBody>
      </p:sp>
      <p:pic>
        <p:nvPicPr>
          <p:cNvPr id="10" name="Imagem 9" descr="Senac Jundiaí | CDL Jundiaí">
            <a:extLst>
              <a:ext uri="{FF2B5EF4-FFF2-40B4-BE49-F238E27FC236}">
                <a16:creationId xmlns:a16="http://schemas.microsoft.com/office/drawing/2014/main" id="{6F69724C-A5F3-F753-A753-F2B7C75E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6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2250" y="2000250"/>
            <a:ext cx="4895850" cy="2819399"/>
          </a:xfrm>
        </p:spPr>
        <p:txBody>
          <a:bodyPr rtlCol="0"/>
          <a:lstStyle/>
          <a:p>
            <a:pPr rtl="0"/>
            <a:r>
              <a:rPr lang="pt-BR" sz="3200" dirty="0"/>
              <a:t>VISÃO GERAL DA EMPRESA</a:t>
            </a:r>
          </a:p>
        </p:txBody>
      </p:sp>
      <p:pic>
        <p:nvPicPr>
          <p:cNvPr id="4" name="Imagem 3" descr="Senac Jundiaí | CDL Jundiaí">
            <a:extLst>
              <a:ext uri="{FF2B5EF4-FFF2-40B4-BE49-F238E27FC236}">
                <a16:creationId xmlns:a16="http://schemas.microsoft.com/office/drawing/2014/main" id="{6CE67EE0-F1D5-C79C-1407-75D3AA7C3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0"/>
            <a:ext cx="3171825" cy="1325563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SOBRE NÓS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671271"/>
            <a:ext cx="4202807" cy="4462829"/>
          </a:xfrm>
        </p:spPr>
        <p:txBody>
          <a:bodyPr rtlCol="0">
            <a:normAutofit/>
          </a:bodyPr>
          <a:lstStyle/>
          <a:p>
            <a:pPr rtl="0"/>
            <a:r>
              <a:rPr lang="pt-BR" sz="1800" dirty="0"/>
              <a:t>Somos uma empresa de tecnologia focada no atendimento remoto que trabalha sob a demanda de problemas reais do dia das empresas, buscando soluções rápidas e definitivas reduzindo o impacto dos incidentes recorrentes e sempre visando um alto nível de qualidade.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9C6F5571-5776-2DBF-705E-DA8C66CD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480" y="967699"/>
            <a:ext cx="5539095" cy="1138758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PROBLEMA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FINANÇAS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CUSTOS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Empresas que trabalhem que possuem um parque tecnológico relativamente médio</a:t>
            </a:r>
          </a:p>
          <a:p>
            <a:pPr rtl="0"/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Visando crescimento anual com uma margem de 60% ao ano.</a:t>
            </a:r>
          </a:p>
          <a:p>
            <a:pPr rtl="0"/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pt-BR" dirty="0"/>
              <a:t>Inicialmente um custo necessário de</a:t>
            </a:r>
            <a:r>
              <a:rPr lang="pt-BR" b="1" dirty="0"/>
              <a:t> 264.500,00</a:t>
            </a:r>
            <a:endParaRPr lang="pt-BR" dirty="0"/>
          </a:p>
          <a:p>
            <a:pPr rtl="0"/>
            <a:endParaRPr lang="pt-BR" dirty="0"/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/>
          </a:p>
        </p:txBody>
      </p:sp>
      <p:pic>
        <p:nvPicPr>
          <p:cNvPr id="19" name="Imagem 18" descr="Senac Jundiaí | CDL Jundiaí">
            <a:extLst>
              <a:ext uri="{FF2B5EF4-FFF2-40B4-BE49-F238E27FC236}">
                <a16:creationId xmlns:a16="http://schemas.microsoft.com/office/drawing/2014/main" id="{4ED3CB50-7270-8B42-C966-AAC7D4E0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7270" y="2606142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b="1" dirty="0"/>
              <a:t>Suporte Técnico e Helpdesk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/>
          <a:lstStyle/>
          <a:p>
            <a:pPr rtl="0"/>
            <a:r>
              <a:rPr lang="pt-BR" dirty="0"/>
              <a:t>Equipe pronta para atender demandas de maneira ágil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rtlCol="0">
            <a:noAutofit/>
          </a:bodyPr>
          <a:lstStyle/>
          <a:p>
            <a:pPr>
              <a:lnSpc>
                <a:spcPct val="100000"/>
              </a:lnSpc>
            </a:pPr>
            <a:r>
              <a:rPr lang="pt-BR" b="1" dirty="0"/>
              <a:t>PÚBLICO ALVO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rtlCol="0"/>
          <a:lstStyle/>
          <a:p>
            <a:pPr rtl="0"/>
            <a:r>
              <a:rPr lang="pt-BR" dirty="0"/>
              <a:t>Empresas que fazem uso de </a:t>
            </a:r>
          </a:p>
          <a:p>
            <a:pPr rtl="0"/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rtlCol="0">
            <a:noAutofit/>
          </a:bodyPr>
          <a:lstStyle/>
          <a:p>
            <a:pPr>
              <a:lnSpc>
                <a:spcPct val="100000"/>
              </a:lnSpc>
            </a:pPr>
            <a:r>
              <a:rPr lang="pt-BR" b="1" dirty="0"/>
              <a:t>ECONOMIA DE CUSTOS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pPr rtl="0"/>
            <a:r>
              <a:rPr lang="pt-BR" dirty="0"/>
              <a:t>Em muitas casos não precisar manter um setor de TI dentro dos custos da empresa</a:t>
            </a:r>
          </a:p>
          <a:p>
            <a:pPr rtl="0"/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 rtlCol="0">
            <a:noAutofit/>
          </a:bodyPr>
          <a:lstStyle/>
          <a:p>
            <a:pPr>
              <a:lnSpc>
                <a:spcPct val="110000"/>
              </a:lnSpc>
            </a:pPr>
            <a:r>
              <a:rPr lang="pt-BR" b="1" dirty="0"/>
              <a:t>FÁCIL DE USAR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/>
          <a:lstStyle/>
          <a:p>
            <a:pPr rtl="0"/>
            <a:r>
              <a:rPr lang="pt-BR" dirty="0"/>
              <a:t>Design simples que fornece aos clientes as informações direcionadas de que precisam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>
            <a:noAutofit/>
          </a:bodyPr>
          <a:lstStyle/>
          <a:p>
            <a:r>
              <a:rPr lang="pt-BR" sz="3200" b="1" dirty="0"/>
              <a:t>Contrato de Serviços, Gestão e Finanças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1D04BE8-90C7-4CAC-7EBF-1DAAF5A853BA}"/>
              </a:ext>
            </a:extLst>
          </p:cNvPr>
          <p:cNvSpPr txBox="1"/>
          <p:nvPr/>
        </p:nvSpPr>
        <p:spPr>
          <a:xfrm>
            <a:off x="838201" y="5987018"/>
            <a:ext cx="1098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Link do modelo de contrato: https://docs.google.com/document/d/12bsEDoIroWE5rtEu1u6fYY0rBIRi4bb1/edit</a:t>
            </a:r>
          </a:p>
        </p:txBody>
      </p:sp>
      <p:pic>
        <p:nvPicPr>
          <p:cNvPr id="35" name="Imagem 34" descr="Senac Jundiaí | CDL Jundiaí">
            <a:extLst>
              <a:ext uri="{FF2B5EF4-FFF2-40B4-BE49-F238E27FC236}">
                <a16:creationId xmlns:a16="http://schemas.microsoft.com/office/drawing/2014/main" id="{15316061-3A2C-CFC7-580D-7103A188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11723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4A65-1E13-E4EA-C6CC-77BA4FF8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9680" y="-13493"/>
            <a:ext cx="3139440" cy="1325563"/>
          </a:xfrm>
        </p:spPr>
        <p:txBody>
          <a:bodyPr>
            <a:normAutofit/>
          </a:bodyPr>
          <a:lstStyle/>
          <a:p>
            <a:r>
              <a:rPr lang="pt-BR" sz="4000" dirty="0"/>
              <a:t>Serviços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06873E-197D-C7EA-A541-316D1D60D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9680" y="2209801"/>
            <a:ext cx="5433502" cy="547622"/>
          </a:xfrm>
        </p:spPr>
        <p:txBody>
          <a:bodyPr>
            <a:noAutofit/>
          </a:bodyPr>
          <a:lstStyle/>
          <a:p>
            <a:r>
              <a:rPr lang="pt-BR" b="1" dirty="0"/>
              <a:t>Tipos de serviços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13B338-9E8E-F60F-796F-C9E9F70C09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9" y="2889698"/>
            <a:ext cx="5431354" cy="2996752"/>
          </a:xfrm>
        </p:spPr>
        <p:txBody>
          <a:bodyPr>
            <a:normAutofit lnSpcReduction="10000"/>
          </a:bodyPr>
          <a:lstStyle/>
          <a:p>
            <a:pPr lvl="0" fontAlgn="base"/>
            <a:r>
              <a:rPr lang="pt-BR" sz="2000" b="1" dirty="0"/>
              <a:t>Suporte Técnico e </a:t>
            </a:r>
            <a:r>
              <a:rPr lang="pt-BR" sz="2000" b="1" dirty="0" err="1"/>
              <a:t>Helpdesk</a:t>
            </a:r>
            <a:r>
              <a:rPr lang="pt-BR" sz="2000" dirty="0"/>
              <a:t>: Gerenciamento de incidentes operacionais e assistência remota especializada.</a:t>
            </a:r>
          </a:p>
          <a:p>
            <a:pPr lvl="0" fontAlgn="base"/>
            <a:r>
              <a:rPr lang="pt-BR" sz="2000" b="1" dirty="0"/>
              <a:t>Instalação e Manutenção de Softwares</a:t>
            </a:r>
            <a:r>
              <a:rPr lang="pt-BR" sz="2000" dirty="0"/>
              <a:t>: Configuração de sistemas operacionais, utilitários, programas corporativos e antivírus.</a:t>
            </a:r>
          </a:p>
          <a:p>
            <a:pPr lvl="0" fontAlgn="base"/>
            <a:r>
              <a:rPr lang="pt-BR" sz="2000" b="1" dirty="0"/>
              <a:t>Gestão Contingencial de Hardware</a:t>
            </a:r>
            <a:r>
              <a:rPr lang="pt-BR" sz="2000" dirty="0"/>
              <a:t>: Disponibilização temporária de equipamentos para evitar paradas operacionais nos clientes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69B6FF38-BE93-4100-FF3C-95B99576C3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pPr rtl="0"/>
              <a:t>8</a:t>
            </a:fld>
            <a:endParaRPr lang="pt-BR" noProof="0"/>
          </a:p>
        </p:txBody>
      </p:sp>
      <p:pic>
        <p:nvPicPr>
          <p:cNvPr id="15" name="Imagem 14" descr="Senac Jundiaí | CDL Jundiaí">
            <a:extLst>
              <a:ext uri="{FF2B5EF4-FFF2-40B4-BE49-F238E27FC236}">
                <a16:creationId xmlns:a16="http://schemas.microsoft.com/office/drawing/2014/main" id="{30E15E9D-853F-DC14-4662-0BDA5B791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2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71438"/>
            <a:ext cx="5111750" cy="1204912"/>
          </a:xfrm>
        </p:spPr>
        <p:txBody>
          <a:bodyPr rtlCol="0">
            <a:normAutofit/>
          </a:bodyPr>
          <a:lstStyle/>
          <a:p>
            <a:pPr rtl="0"/>
            <a:r>
              <a:rPr lang="pt-BR" sz="3200" dirty="0"/>
              <a:t>Suporte técnico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2468562"/>
            <a:ext cx="6810376" cy="30368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sz="2000" dirty="0"/>
              <a:t>Integrado por equipe 24 horas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sz="2000" dirty="0"/>
              <a:t>prestando serviços remotos 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sz="2000" dirty="0"/>
              <a:t>troca de equipamentos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sz="2000" dirty="0"/>
              <a:t>recolhendo as máquinas defeituosas para realizar o reparo internamente dentro das instalações da empresa 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sz="2000" dirty="0"/>
              <a:t>diminuindo o tempo de pausa das operações</a:t>
            </a:r>
            <a:endParaRPr lang="pt-BR" sz="2000" noProof="1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13FD5279-9156-8494-2D13-71FF0CA2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/>
          </a:bodyPr>
          <a:lstStyle/>
          <a:p>
            <a:r>
              <a:rPr lang="pt-BR" sz="3200" b="1" dirty="0"/>
              <a:t>Regras do Negócio</a:t>
            </a:r>
            <a:endParaRPr lang="pt-BR" sz="32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10</a:t>
            </a:fld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E8FE60A-C476-F637-6D97-3FDF69F07C30}"/>
              </a:ext>
            </a:extLst>
          </p:cNvPr>
          <p:cNvSpPr txBox="1"/>
          <p:nvPr/>
        </p:nvSpPr>
        <p:spPr>
          <a:xfrm>
            <a:off x="5256140" y="199907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Níveis de Serviço (SLA)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Prazos de resposta e solução definidos conforme a gravidade —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Crítico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(15 min / 2h),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Médio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(1h / 6h) e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Baixo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(4h / 24h).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Substituição de Máquinas (Swap)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Troca provisória em até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24 horas úteis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em Fortaleza/CE utilizando o parque reserva da empresa.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Faturamento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Fechamento das faturas mensalmente no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dia 25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e vencimento estipulado para o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dia 05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do mês subsequente.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Vigência e Rescisão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Contrato válido por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12 meses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com renovação automática e aviso prévio de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30 dias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para rescisão</a:t>
            </a:r>
            <a:r>
              <a:rPr lang="pt-BR" baseline="30000" dirty="0"/>
              <a:t>.</a:t>
            </a:r>
            <a:endParaRPr lang="pt-BR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rtl="0" fontAlgn="base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Foro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: Eleito o Foro da Comarca de </a:t>
            </a:r>
            <a:r>
              <a:rPr lang="pt-BR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Fortaleza/CE</a:t>
            </a:r>
            <a:r>
              <a:rPr lang="pt-BR" sz="1800" b="0" i="0" u="none" strike="noStrike" baseline="3000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pt-BR" sz="1100" b="0" i="0" u="none" strike="noStrike" dirty="0">
              <a:solidFill>
                <a:srgbClr val="1F1F1F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26" name="Imagem 25" descr="Senac Jundiaí | CDL Jundiaí">
            <a:extLst>
              <a:ext uri="{FF2B5EF4-FFF2-40B4-BE49-F238E27FC236}">
                <a16:creationId xmlns:a16="http://schemas.microsoft.com/office/drawing/2014/main" id="{7B31E314-87C7-D295-3500-1257634E6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pt-BR" b="1" dirty="0"/>
              <a:t>Fluxo de Caixa: Explicação Resumida e Prática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/>
          <a:lstStyle/>
          <a:p>
            <a:pPr rtl="0"/>
            <a:r>
              <a:rPr lang="pt-BR" dirty="0"/>
              <a:t>O que é e objetivos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lvl="0" fontAlgn="base"/>
            <a:r>
              <a:rPr lang="pt-BR" b="1" dirty="0"/>
              <a:t>Controle Financeiro</a:t>
            </a:r>
            <a:r>
              <a:rPr lang="pt-BR" dirty="0"/>
              <a:t>: Ferramenta essencial para acompanhar todas as </a:t>
            </a:r>
            <a:r>
              <a:rPr lang="pt-BR" b="1" dirty="0"/>
              <a:t>entradas e saídas de dinheiro</a:t>
            </a:r>
            <a:r>
              <a:rPr lang="pt-BR" dirty="0"/>
              <a:t> em determinado período.</a:t>
            </a:r>
          </a:p>
          <a:p>
            <a:pPr lvl="0" fontAlgn="base"/>
            <a:r>
              <a:rPr lang="pt-BR" b="1" dirty="0"/>
              <a:t>Manutenção da Operação</a:t>
            </a:r>
            <a:r>
              <a:rPr lang="pt-BR" dirty="0"/>
              <a:t>: Permite verificar se a empresa possui recursos para pagar despesas e honrar compromissos.</a:t>
            </a:r>
          </a:p>
          <a:p>
            <a:pPr rtl="0"/>
            <a:endParaRPr lang="pt-BR" noProof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/>
          <a:lstStyle/>
          <a:p>
            <a:r>
              <a:rPr lang="pt-BR" b="1" dirty="0"/>
              <a:t>Entradas de Dinheiro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 fontScale="92500" lnSpcReduction="10000"/>
          </a:bodyPr>
          <a:lstStyle/>
          <a:p>
            <a:pPr lvl="0" fontAlgn="base"/>
            <a:r>
              <a:rPr lang="pt-BR" b="1" dirty="0"/>
              <a:t>Fontes de Receita</a:t>
            </a:r>
            <a:r>
              <a:rPr lang="pt-BR" dirty="0"/>
              <a:t>: Provenientes de serviços como manutenção preventiva/corretiva, formatação, instalação de programas, limpeza e troca de peças.</a:t>
            </a:r>
          </a:p>
          <a:p>
            <a:pPr lvl="0" fontAlgn="base"/>
            <a:r>
              <a:rPr lang="pt-BR" b="1" dirty="0"/>
              <a:t>Meios de Pagamento</a:t>
            </a:r>
            <a:r>
              <a:rPr lang="pt-BR" dirty="0"/>
              <a:t>: Recebimento à vista, Pix, cartões de débito/crédito e pagamentos parcelados.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b="1" dirty="0"/>
              <a:t>Análise do Saldo</a:t>
            </a:r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 fontScale="92500" lnSpcReduction="20000"/>
          </a:bodyPr>
          <a:lstStyle/>
          <a:p>
            <a:pPr lvl="0" fontAlgn="base"/>
            <a:r>
              <a:rPr lang="pt-BR" b="1" dirty="0"/>
              <a:t>Saldo Positivo (Entradas &gt; Saídas)</a:t>
            </a:r>
            <a:r>
              <a:rPr lang="pt-BR" dirty="0"/>
              <a:t>: Indica geração de caixa, viabilizando investimentos em equipamentos, expansão de serviços ou criação de reservas.</a:t>
            </a:r>
          </a:p>
          <a:p>
            <a:pPr lvl="0" fontAlgn="base"/>
            <a:r>
              <a:rPr lang="pt-BR" b="1" dirty="0"/>
              <a:t>Saldo Negativo (Saídas &gt; Entradas)</a:t>
            </a:r>
            <a:r>
              <a:rPr lang="pt-BR" dirty="0"/>
              <a:t>: Exige revisão rigorosa dos custos, reorganização de cobranças e busca por equilíbrio financeiro</a:t>
            </a:r>
            <a:r>
              <a:rPr lang="pt-BR" baseline="30000" dirty="0"/>
              <a:t>[</a:t>
            </a:r>
            <a:r>
              <a:rPr lang="pt-BR" dirty="0"/>
              <a:t>.</a:t>
            </a:r>
          </a:p>
          <a:p>
            <a:pPr rtl="0"/>
            <a:endParaRPr lang="pt-BR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pic>
        <p:nvPicPr>
          <p:cNvPr id="13" name="Imagem 12" descr="Senac Jundiaí | CDL Jundiaí">
            <a:extLst>
              <a:ext uri="{FF2B5EF4-FFF2-40B4-BE49-F238E27FC236}">
                <a16:creationId xmlns:a16="http://schemas.microsoft.com/office/drawing/2014/main" id="{B1461AAF-C441-7BB5-5B7C-3A194580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775" y="136525"/>
            <a:ext cx="5111750" cy="590551"/>
          </a:xfrm>
        </p:spPr>
        <p:txBody>
          <a:bodyPr rtlCol="0">
            <a:normAutofit/>
          </a:bodyPr>
          <a:lstStyle/>
          <a:p>
            <a:r>
              <a:rPr lang="pt-BR" b="1" dirty="0"/>
              <a:t>Sistema GTech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984B90-A097-4345-5202-C4C3A354B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10" y="1285671"/>
            <a:ext cx="9205580" cy="4286657"/>
          </a:xfrm>
          <a:prstGeom prst="rect">
            <a:avLst/>
          </a:prstGeom>
        </p:spPr>
      </p:pic>
      <p:pic>
        <p:nvPicPr>
          <p:cNvPr id="13" name="Imagem 12" descr="Senac Jundiaí | CDL Jundiaí">
            <a:extLst>
              <a:ext uri="{FF2B5EF4-FFF2-40B4-BE49-F238E27FC236}">
                <a16:creationId xmlns:a16="http://schemas.microsoft.com/office/drawing/2014/main" id="{39C4DD45-1BCF-A188-486A-ABB7BB911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3876E-1C64-CC94-D723-E969EC20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36525"/>
            <a:ext cx="5111750" cy="1204912"/>
          </a:xfrm>
        </p:spPr>
        <p:txBody>
          <a:bodyPr/>
          <a:lstStyle/>
          <a:p>
            <a:r>
              <a:rPr lang="pt-BR" b="1" dirty="0"/>
              <a:t>Funcionalidades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A80E67-F10E-B82D-E536-C5D591DED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3950" y="1489868"/>
            <a:ext cx="6838950" cy="4718050"/>
          </a:xfrm>
        </p:spPr>
        <p:txBody>
          <a:bodyPr>
            <a:normAutofit/>
          </a:bodyPr>
          <a:lstStyle/>
          <a:p>
            <a:pPr lvl="0" fontAlgn="base"/>
            <a:r>
              <a:rPr lang="pt-BR" sz="1600" b="1" dirty="0"/>
              <a:t>Centralização</a:t>
            </a:r>
            <a:r>
              <a:rPr lang="pt-BR" sz="1600" dirty="0"/>
              <a:t>: Centralização de chamados via WhatsApp, E-mail e Portal Web para suporte técnico integrado.</a:t>
            </a:r>
          </a:p>
          <a:p>
            <a:pPr lvl="0" fontAlgn="base"/>
            <a:r>
              <a:rPr lang="pt-BR" sz="1600" b="1" dirty="0"/>
              <a:t>Acesso Remoto Seguro</a:t>
            </a:r>
            <a:r>
              <a:rPr lang="pt-BR" sz="1600" dirty="0"/>
              <a:t>: Conexão à distância segura e criptografada utilizando as ferramentas </a:t>
            </a:r>
            <a:r>
              <a:rPr lang="pt-BR" sz="1600" dirty="0" err="1"/>
              <a:t>AnyDesk</a:t>
            </a:r>
            <a:r>
              <a:rPr lang="pt-BR" sz="1600" dirty="0"/>
              <a:t> e </a:t>
            </a:r>
            <a:r>
              <a:rPr lang="pt-BR" sz="1600" dirty="0" err="1"/>
              <a:t>TeamViewer</a:t>
            </a:r>
            <a:r>
              <a:rPr lang="pt-BR" sz="1600" dirty="0"/>
              <a:t>.</a:t>
            </a:r>
          </a:p>
          <a:p>
            <a:pPr lvl="0" fontAlgn="base"/>
            <a:r>
              <a:rPr lang="pt-BR" sz="1600" b="1" dirty="0"/>
              <a:t>Ciclo de Vida ITIL</a:t>
            </a:r>
            <a:r>
              <a:rPr lang="pt-BR" sz="1600" dirty="0"/>
              <a:t>: Acompanhamento visual padronizado em ITIL com status Aberto, Em Atendimento e Encerrado.</a:t>
            </a:r>
          </a:p>
          <a:p>
            <a:pPr lvl="0" fontAlgn="base"/>
            <a:r>
              <a:rPr lang="pt-BR" sz="1600" b="1" dirty="0"/>
              <a:t>Acompanhamento de SLA</a:t>
            </a:r>
            <a:r>
              <a:rPr lang="pt-BR" sz="1600" dirty="0"/>
              <a:t>: Controle automatizado de prazos limites para primeira resposta e solução dos incidentes.</a:t>
            </a:r>
          </a:p>
          <a:p>
            <a:pPr lvl="0" fontAlgn="base"/>
            <a:r>
              <a:rPr lang="pt-BR" sz="1600" b="1" dirty="0"/>
              <a:t>Orçamentos e Precificação</a:t>
            </a:r>
            <a:r>
              <a:rPr lang="pt-BR" sz="1600" dirty="0"/>
              <a:t>: Cálculo automatizado de subtotais, impostos (ISS), descontos e valor total das propostas.</a:t>
            </a:r>
          </a:p>
          <a:p>
            <a:pPr lvl="0" fontAlgn="base"/>
            <a:r>
              <a:rPr lang="pt-BR" sz="1600" b="1" dirty="0"/>
              <a:t>Substituição de Hardware (Swap)</a:t>
            </a:r>
            <a:r>
              <a:rPr lang="pt-BR" sz="1600" dirty="0"/>
              <a:t>: Troca rápida de equipamentos defeituosos por até 50 máquinas reserva contingenciais.</a:t>
            </a:r>
          </a:p>
          <a:p>
            <a:pPr lvl="0" fontAlgn="base"/>
            <a:r>
              <a:rPr lang="pt-BR" sz="1600" b="1" dirty="0"/>
              <a:t>Painel de Controle e N1</a:t>
            </a:r>
            <a:r>
              <a:rPr lang="pt-BR" sz="1600" dirty="0"/>
              <a:t>: Painel com indicadores, visão de estoque, finanças, documentos e acesso restrito N1.</a:t>
            </a:r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D40E49-E2F1-0EF8-93CE-2AEDFA22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t>13</a:t>
            </a:fld>
            <a:endParaRPr lang="pt-BR" noProof="0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97322848-0A6B-9FA2-5E94-D342FA0C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11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1DDA3-7AC1-1B01-16D7-04C99C37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450" y="708025"/>
            <a:ext cx="5111750" cy="1204912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Central de Atendimento e Triagem (Helpdesk N1)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0EBDCD-B2CA-B5AC-0920-4670F7206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4450" y="2953543"/>
            <a:ext cx="6229350" cy="2362200"/>
          </a:xfrm>
        </p:spPr>
        <p:txBody>
          <a:bodyPr>
            <a:normAutofit/>
          </a:bodyPr>
          <a:lstStyle/>
          <a:p>
            <a:pPr lvl="0" fontAlgn="base"/>
            <a:r>
              <a:rPr lang="pt-BR" sz="1800" b="1" dirty="0"/>
              <a:t>Painel Integrado</a:t>
            </a:r>
            <a:r>
              <a:rPr lang="pt-BR" sz="1800" dirty="0"/>
              <a:t>: Gestão centralizada de chamados vindos do portal, e-mail e aplicativo em um só lugar</a:t>
            </a:r>
            <a:r>
              <a:rPr lang="pt-BR" sz="1800" baseline="30000" dirty="0"/>
              <a:t>[1][8]</a:t>
            </a:r>
            <a:r>
              <a:rPr lang="pt-BR" sz="1800" dirty="0"/>
              <a:t>.</a:t>
            </a:r>
          </a:p>
          <a:p>
            <a:pPr lvl="0" fontAlgn="base"/>
            <a:r>
              <a:rPr lang="pt-BR" sz="1800" b="1" dirty="0"/>
              <a:t>Acesso Restrito N1</a:t>
            </a:r>
            <a:r>
              <a:rPr lang="pt-BR" sz="1800" dirty="0"/>
              <a:t>: Módulo exclusivo para triagem rápida, direcionamento de solicitações e cadastro de clientes</a:t>
            </a:r>
            <a:r>
              <a:rPr lang="pt-BR" sz="1800" baseline="30000" dirty="0"/>
              <a:t>[8]</a:t>
            </a:r>
            <a:r>
              <a:rPr lang="pt-BR" sz="1800" dirty="0"/>
              <a:t>.</a:t>
            </a:r>
          </a:p>
          <a:p>
            <a:pPr lvl="0" fontAlgn="base"/>
            <a:r>
              <a:rPr lang="pt-BR" sz="1800" b="1" dirty="0"/>
              <a:t>Ciclo de Vida ITIL</a:t>
            </a:r>
            <a:r>
              <a:rPr lang="pt-BR" sz="1800" dirty="0"/>
              <a:t>: Acompanhamento visual do status do chamado (</a:t>
            </a:r>
            <a:r>
              <a:rPr lang="pt-BR" sz="1800" b="1" dirty="0"/>
              <a:t>Aberto</a:t>
            </a:r>
            <a:r>
              <a:rPr lang="pt-BR" sz="1800" dirty="0"/>
              <a:t>, </a:t>
            </a:r>
            <a:r>
              <a:rPr lang="pt-BR" sz="1800" b="1" dirty="0"/>
              <a:t>Em Atendimento</a:t>
            </a:r>
            <a:r>
              <a:rPr lang="pt-BR" sz="1800" dirty="0"/>
              <a:t> e </a:t>
            </a:r>
            <a:r>
              <a:rPr lang="pt-BR" sz="1800" b="1" dirty="0"/>
              <a:t>Encerrado</a:t>
            </a:r>
            <a:r>
              <a:rPr lang="pt-BR" sz="1800" dirty="0"/>
              <a:t>)</a:t>
            </a:r>
            <a:r>
              <a:rPr lang="pt-BR" sz="1800" baseline="30000" dirty="0"/>
              <a:t>[8]</a:t>
            </a:r>
            <a:r>
              <a:rPr lang="pt-BR" sz="1800" dirty="0"/>
              <a:t>.</a:t>
            </a:r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594FC-808C-3928-643C-3A7437F9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t>14</a:t>
            </a:fld>
            <a:endParaRPr lang="pt-BR" noProof="0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61F81E12-6AEE-B691-6C8D-A21284803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23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7C98C-1213-247E-EE18-FBAE8582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814389"/>
            <a:ext cx="5111750" cy="1204912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Conectividade Remota e Painel Operacional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BC9DE2-1FF5-07F5-4381-D9358C80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2724150"/>
            <a:ext cx="5743576" cy="2555875"/>
          </a:xfrm>
        </p:spPr>
        <p:txBody>
          <a:bodyPr>
            <a:normAutofit/>
          </a:bodyPr>
          <a:lstStyle/>
          <a:p>
            <a:pPr lvl="0" fontAlgn="base"/>
            <a:r>
              <a:rPr lang="pt-BR" sz="1800" b="1" dirty="0"/>
              <a:t>Acesso Remoto Seguro</a:t>
            </a:r>
            <a:r>
              <a:rPr lang="pt-BR" sz="1800" dirty="0"/>
              <a:t>: Conexão à distância via </a:t>
            </a:r>
            <a:r>
              <a:rPr lang="pt-BR" sz="1800" b="1" dirty="0" err="1"/>
              <a:t>AnyDesk</a:t>
            </a:r>
            <a:r>
              <a:rPr lang="pt-BR" sz="1800" dirty="0"/>
              <a:t> e </a:t>
            </a:r>
            <a:r>
              <a:rPr lang="pt-BR" sz="1800" b="1" dirty="0" err="1"/>
              <a:t>TeamViewer</a:t>
            </a:r>
            <a:r>
              <a:rPr lang="pt-BR" sz="1800" dirty="0"/>
              <a:t> com tráfego criptografado.</a:t>
            </a:r>
          </a:p>
          <a:p>
            <a:pPr lvl="0" fontAlgn="base"/>
            <a:r>
              <a:rPr lang="pt-BR" sz="1800" b="1" dirty="0"/>
              <a:t>Painel de Controle Geral</a:t>
            </a:r>
            <a:r>
              <a:rPr lang="pt-BR" sz="1800" dirty="0"/>
              <a:t>: Indicadores operacionais, gestão de estoque de equipamentos, finanças e documentos centralizados.</a:t>
            </a:r>
          </a:p>
          <a:p>
            <a:pPr lvl="0" fontAlgn="base"/>
            <a:r>
              <a:rPr lang="pt-BR" sz="1800" b="1" dirty="0"/>
              <a:t>Gestão do Parque Reserva</a:t>
            </a:r>
            <a:r>
              <a:rPr lang="pt-BR" sz="1800" dirty="0"/>
              <a:t>: Controle e rastreamento contingencial do estoque de máquinas de reposição.</a:t>
            </a:r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348EEC-3587-20B1-1A68-287A6011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t>15</a:t>
            </a:fld>
            <a:endParaRPr lang="pt-BR" noProof="0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5C2EA432-CB52-3259-A821-ACF4CAD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8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580F9-D2E2-266E-C951-7EB08CDE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7525" y="654844"/>
            <a:ext cx="5111750" cy="1204912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Automação Comercial e Monitoramento de SLA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E20934-D244-1C03-45E3-77EC3AEF8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7525" y="3031330"/>
            <a:ext cx="5756275" cy="2664620"/>
          </a:xfrm>
        </p:spPr>
        <p:txBody>
          <a:bodyPr>
            <a:normAutofit/>
          </a:bodyPr>
          <a:lstStyle/>
          <a:p>
            <a:pPr lvl="0" fontAlgn="base"/>
            <a:r>
              <a:rPr lang="pt-BR" sz="1800" b="1" dirty="0"/>
              <a:t>Módulo de Propostas</a:t>
            </a:r>
            <a:r>
              <a:rPr lang="pt-BR" sz="1800" dirty="0"/>
              <a:t>: Seleção automatizada de cliente, técnico responsável e serviços prestados</a:t>
            </a:r>
            <a:r>
              <a:rPr lang="pt-BR" sz="1800" baseline="30000" dirty="0"/>
              <a:t>[1]</a:t>
            </a:r>
            <a:r>
              <a:rPr lang="pt-BR" sz="1800" dirty="0"/>
              <a:t>.</a:t>
            </a:r>
          </a:p>
          <a:p>
            <a:pPr lvl="0" fontAlgn="base"/>
            <a:r>
              <a:rPr lang="pt-BR" sz="1800" b="1" dirty="0"/>
              <a:t>Motor de Cálculo Financeiro</a:t>
            </a:r>
            <a:r>
              <a:rPr lang="pt-BR" sz="1800" dirty="0"/>
              <a:t>: Aplicação imediata da fórmula com subtotal, imposto ISS e desconto percentual</a:t>
            </a:r>
            <a:r>
              <a:rPr lang="pt-BR" sz="1800" baseline="30000" dirty="0"/>
              <a:t>[1]</a:t>
            </a:r>
            <a:r>
              <a:rPr lang="pt-BR" sz="1800" dirty="0"/>
              <a:t>.</a:t>
            </a:r>
          </a:p>
          <a:p>
            <a:pPr lvl="0" fontAlgn="base"/>
            <a:r>
              <a:rPr lang="pt-BR" sz="1800" b="1" dirty="0"/>
              <a:t>Controle do SLA em Tempo Real</a:t>
            </a:r>
            <a:r>
              <a:rPr lang="pt-BR" sz="1800" dirty="0"/>
              <a:t>: Alertas e contagem regressiva baseados no tempo máximo permitido por chamado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3980B-8802-D25B-5574-C54ACBF5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129CC6-59A4-DFB6-B56B-D26F4FAC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35A49-E55B-056E-2372-531101B2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noProof="0" smtClean="0"/>
              <a:t>16</a:t>
            </a:fld>
            <a:endParaRPr lang="pt-BR" noProof="0" dirty="0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1CD5AC84-C8BC-4EF4-752E-AB9B0D4B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2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4454" y="472736"/>
            <a:ext cx="4179570" cy="1524735"/>
          </a:xfrm>
        </p:spPr>
        <p:txBody>
          <a:bodyPr rtlCol="0"/>
          <a:lstStyle/>
          <a:p>
            <a:pPr rtl="0"/>
            <a:r>
              <a:rPr lang="pt-BR" sz="6000" dirty="0"/>
              <a:t>OBRIGADO!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4114403"/>
            <a:ext cx="7524750" cy="2876947"/>
          </a:xfrm>
        </p:spPr>
        <p:txBody>
          <a:bodyPr rtlCol="0">
            <a:normAutofit/>
          </a:bodyPr>
          <a:lstStyle/>
          <a:p>
            <a:pPr rtl="0"/>
            <a:r>
              <a:rPr lang="pt-BR" sz="1600" dirty="0"/>
              <a:t>Segue o contato para contratação do serviço</a:t>
            </a:r>
          </a:p>
          <a:p>
            <a:pPr rtl="0"/>
            <a:r>
              <a:rPr lang="pt-BR" sz="1600" b="1" dirty="0"/>
              <a:t>Telefone: </a:t>
            </a:r>
            <a:r>
              <a:rPr lang="pt-BR" sz="1600" dirty="0"/>
              <a:t>(85) 986918500</a:t>
            </a:r>
          </a:p>
          <a:p>
            <a:pPr rtl="0"/>
            <a:r>
              <a:rPr lang="pt-BR" sz="1600" b="1" dirty="0"/>
              <a:t>Email: </a:t>
            </a:r>
            <a:r>
              <a:rPr lang="pt-BR" sz="1600" dirty="0">
                <a:hlinkClick r:id="rId3"/>
              </a:rPr>
              <a:t>mikaelmacedo0@gmail.com</a:t>
            </a:r>
            <a:endParaRPr lang="pt-BR" sz="1600" dirty="0"/>
          </a:p>
          <a:p>
            <a:r>
              <a:rPr lang="pt-BR" sz="1600" b="1" dirty="0"/>
              <a:t>Site: </a:t>
            </a:r>
            <a:r>
              <a:rPr lang="pt-BR" sz="1600" dirty="0"/>
              <a:t>https://mikaelmacedo0.github.io/curso-ti-assistente-olavo/#home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/>
          </a:p>
        </p:txBody>
      </p:sp>
      <p:pic>
        <p:nvPicPr>
          <p:cNvPr id="8" name="Imagem 7" descr="Senac Jundiaí | CDL Jundiaí">
            <a:extLst>
              <a:ext uri="{FF2B5EF4-FFF2-40B4-BE49-F238E27FC236}">
                <a16:creationId xmlns:a16="http://schemas.microsoft.com/office/drawing/2014/main" id="{2CBEB9B1-69D0-C4D7-FC68-DA9175A2B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7060" y="0"/>
            <a:ext cx="1134940" cy="75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149</TotalTime>
  <Words>963</Words>
  <Application>Microsoft Office PowerPoint</Application>
  <PresentationFormat>Widescreen</PresentationFormat>
  <Paragraphs>121</Paragraphs>
  <Slides>17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Roboto</vt:lpstr>
      <vt:lpstr>Tenorite</vt:lpstr>
      <vt:lpstr>Linha única</vt:lpstr>
      <vt:lpstr>Projeto integrador</vt:lpstr>
      <vt:lpstr>Competências do curso</vt:lpstr>
      <vt:lpstr>VISÃO GERAL DA EMPRESA</vt:lpstr>
      <vt:lpstr>SOBRE NÓS</vt:lpstr>
      <vt:lpstr>PROBLEMA</vt:lpstr>
      <vt:lpstr>SOLUÇÃO</vt:lpstr>
      <vt:lpstr>Contrato de Serviços, Gestão e Finanças</vt:lpstr>
      <vt:lpstr>Serviços</vt:lpstr>
      <vt:lpstr>Suporte técnico</vt:lpstr>
      <vt:lpstr>Regras do Negócio</vt:lpstr>
      <vt:lpstr>Fluxo de Caixa: Explicação Resumida e Prática</vt:lpstr>
      <vt:lpstr>Sistema GTech</vt:lpstr>
      <vt:lpstr>Funcionalidades</vt:lpstr>
      <vt:lpstr>Central de Atendimento e Triagem (Helpdesk N1) </vt:lpstr>
      <vt:lpstr>Conectividade Remota e Painel Operacional </vt:lpstr>
      <vt:lpstr>Automação Comercial e Monitoramento de SLA 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</dc:creator>
  <cp:lastModifiedBy>LABORATÓRIO</cp:lastModifiedBy>
  <cp:revision>2</cp:revision>
  <dcterms:created xsi:type="dcterms:W3CDTF">2026-10-22T16:58:33Z</dcterms:created>
  <dcterms:modified xsi:type="dcterms:W3CDTF">2026-10-22T19:28:08Z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